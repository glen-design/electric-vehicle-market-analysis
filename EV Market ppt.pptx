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68" r:id="rId4"/>
    <p:sldId id="257" r:id="rId5"/>
    <p:sldId id="258" r:id="rId6"/>
    <p:sldId id="259" r:id="rId7"/>
    <p:sldId id="269" r:id="rId8"/>
    <p:sldId id="260" r:id="rId9"/>
    <p:sldId id="261" r:id="rId10"/>
    <p:sldId id="262" r:id="rId11"/>
    <p:sldId id="263" r:id="rId12"/>
    <p:sldId id="265" r:id="rId13"/>
    <p:sldId id="266" r:id="rId14"/>
    <p:sldId id="270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7600" y="200880"/>
            <a:ext cx="4593600" cy="3173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63640" y="0"/>
            <a:ext cx="378036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341000"/>
            <a:ext cx="6575760" cy="162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27600" y="251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720000" y="1326600"/>
            <a:ext cx="73440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lt1"/>
                </a:solidFill>
                <a:effectLst/>
                <a:uFillTx/>
                <a:latin typeface="Carattere"/>
                <a:ea typeface="Carattere"/>
              </a:rPr>
              <a:t>xx%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720000" y="2947320"/>
            <a:ext cx="73440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lt1"/>
                </a:solidFill>
                <a:effectLst/>
                <a:uFillTx/>
                <a:latin typeface="Carattere"/>
                <a:ea typeface="Carattere"/>
              </a:rPr>
              <a:t>xx%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4883400" y="1326600"/>
            <a:ext cx="73440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lt1"/>
                </a:solidFill>
                <a:effectLst/>
                <a:uFillTx/>
                <a:latin typeface="Carattere"/>
                <a:ea typeface="Carattere"/>
              </a:rPr>
              <a:t>xx%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4883400" y="2947320"/>
            <a:ext cx="73440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lt1"/>
                </a:solidFill>
                <a:effectLst/>
                <a:uFillTx/>
                <a:latin typeface="Carattere"/>
                <a:ea typeface="Carattere"/>
              </a:rPr>
              <a:t>xx%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13160" y="2530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26000" y="1046160"/>
            <a:ext cx="7674840" cy="92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27600" y="209160"/>
            <a:ext cx="466956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230800" y="0"/>
            <a:ext cx="3912840" cy="5150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291720" y="324360"/>
            <a:ext cx="2401920" cy="91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229320" y="207000"/>
            <a:ext cx="2209320" cy="3193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229320" y="3601800"/>
            <a:ext cx="2209320" cy="1541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2607120" y="1506240"/>
            <a:ext cx="2367720" cy="252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2607120" y="-36360"/>
            <a:ext cx="2367720" cy="14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" name="PlaceHolder 6"/>
          <p:cNvSpPr>
            <a:spLocks noGrp="1"/>
          </p:cNvSpPr>
          <p:nvPr>
            <p:ph type="body"/>
          </p:nvPr>
        </p:nvSpPr>
        <p:spPr>
          <a:xfrm>
            <a:off x="2607120" y="4163760"/>
            <a:ext cx="2367720" cy="979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27600" y="2530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27600" y="2530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13160" y="3049560"/>
            <a:ext cx="234108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600" b="0" u="none" strike="noStrike">
                <a:solidFill>
                  <a:schemeClr val="accent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3401280" y="3049560"/>
            <a:ext cx="234108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600" b="0" u="none" strike="noStrike">
                <a:solidFill>
                  <a:schemeClr val="accent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title"/>
          </p:nvPr>
        </p:nvSpPr>
        <p:spPr>
          <a:xfrm>
            <a:off x="6089400" y="3049560"/>
            <a:ext cx="234108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6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713160" y="900360"/>
            <a:ext cx="5251680" cy="1072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34930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3636000" y="2769120"/>
            <a:ext cx="4794480" cy="183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3636000" y="290520"/>
            <a:ext cx="1366920" cy="63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Carattere"/>
                <a:ea typeface="Caratter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27600" y="240480"/>
            <a:ext cx="553932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Google Shape;104;p21"/>
          <p:cNvSpPr/>
          <p:nvPr/>
        </p:nvSpPr>
        <p:spPr>
          <a:xfrm>
            <a:off x="4447440" y="3757680"/>
            <a:ext cx="3998880" cy="4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</a:rPr>
              <a:t>CREDITS:</a:t>
            </a:r>
            <a:r>
              <a:rPr lang="en" sz="1000" b="0" u="none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</a:rPr>
              <a:t> This presentation template was created by </a:t>
            </a:r>
            <a:r>
              <a:rPr lang="en" sz="1000" b="1" u="sng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27600" y="2530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20000" y="990360"/>
            <a:ext cx="7703640" cy="36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27600" y="2628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27600" y="2530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11800" y="878760"/>
            <a:ext cx="363672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643720" y="539640"/>
            <a:ext cx="278676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1948680" y="4014360"/>
            <a:ext cx="5245920" cy="4413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12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15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122;p28"/>
          <p:cNvCxnSpPr/>
          <p:nvPr/>
        </p:nvCxnSpPr>
        <p:spPr>
          <a:xfrm>
            <a:off x="-360" y="3650895"/>
            <a:ext cx="9182160" cy="360"/>
          </a:xfrm>
          <a:prstGeom prst="straightConnector1">
            <a:avLst/>
          </a:prstGeom>
          <a:ln w="9525">
            <a:solidFill>
              <a:srgbClr val="2B3D2D"/>
            </a:solidFill>
            <a:round/>
          </a:ln>
        </p:spPr>
      </p:cxnSp>
      <p:pic>
        <p:nvPicPr>
          <p:cNvPr id="49" name="Google Shape;123;p28"/>
          <p:cNvPicPr/>
          <p:nvPr/>
        </p:nvPicPr>
        <p:blipFill>
          <a:blip r:embed="rId2"/>
          <a:srcRect l="13314" r="37692"/>
          <a:stretch/>
        </p:blipFill>
        <p:spPr>
          <a:xfrm>
            <a:off x="5363640" y="0"/>
            <a:ext cx="378036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24000" y="200160"/>
            <a:ext cx="4590720" cy="32333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dirty="0"/>
              <a:t>Electric Vehicle Market Analysis Dashboard</a:t>
            </a:r>
            <a:endParaRPr lang="fr-FR" sz="4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324000" y="3919594"/>
            <a:ext cx="4590720" cy="80468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r>
              <a:rPr lang="en-US" sz="1200" dirty="0"/>
              <a:t>A Data Analytics Project using Power BI</a:t>
            </a:r>
          </a:p>
          <a:p>
            <a:endParaRPr lang="en-US" sz="1200" dirty="0"/>
          </a:p>
          <a:p>
            <a:r>
              <a:rPr lang="en-US" sz="1200" dirty="0"/>
              <a:t>Focus: EV adoption trends, market share, pricing patterns, and policy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8AFB-E61E-F38A-4FA0-A987B0028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157;p31">
            <a:extLst>
              <a:ext uri="{FF2B5EF4-FFF2-40B4-BE49-F238E27FC236}">
                <a16:creationId xmlns:a16="http://schemas.microsoft.com/office/drawing/2014/main" id="{9E26314B-C1B0-9AF5-C5BF-E6EF30B6C51B}"/>
              </a:ext>
            </a:extLst>
          </p:cNvPr>
          <p:cNvCxnSpPr/>
          <p:nvPr/>
        </p:nvCxnSpPr>
        <p:spPr>
          <a:xfrm>
            <a:off x="-5040" y="1311120"/>
            <a:ext cx="9182160" cy="360"/>
          </a:xfrm>
          <a:prstGeom prst="straightConnector1">
            <a:avLst/>
          </a:prstGeom>
          <a:ln w="9525">
            <a:solidFill>
              <a:srgbClr val="2B3D2D"/>
            </a:solidFill>
            <a:round/>
          </a:ln>
        </p:spPr>
      </p:cxnSp>
      <p:sp>
        <p:nvSpPr>
          <p:cNvPr id="53" name="PlaceHolder 1">
            <a:extLst>
              <a:ext uri="{FF2B5EF4-FFF2-40B4-BE49-F238E27FC236}">
                <a16:creationId xmlns:a16="http://schemas.microsoft.com/office/drawing/2014/main" id="{AB2650EB-15FF-FD6F-4F76-9EE8A3E80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209520"/>
            <a:ext cx="46670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Introductio</a:t>
            </a:r>
            <a:r>
              <a:rPr lang="en-US" sz="2600" dirty="0">
                <a:solidFill>
                  <a:schemeClr val="dk1"/>
                </a:solidFill>
                <a:latin typeface="Manrope"/>
                <a:ea typeface="Manrope"/>
              </a:rPr>
              <a:t>n to Electric Vehicles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>
            <a:extLst>
              <a:ext uri="{FF2B5EF4-FFF2-40B4-BE49-F238E27FC236}">
                <a16:creationId xmlns:a16="http://schemas.microsoft.com/office/drawing/2014/main" id="{FD0A0192-F616-B9B5-85E0-AD264AC30DE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90560" y="1428840"/>
            <a:ext cx="4209840" cy="300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Electric Vehicles (EVs) run on electricity instead of petrol or diesel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 electric motors powered by rechargeable batteries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Help reduce air pollution and carbon emissions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Important for sustainable transportation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    Types of Electric Vehicles: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Battery Electric Vehicles (BEV): Run completely on electricity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Plug‑in Hybrid Electric Vehicles (PHEV): Use both electricity and fuel</a:t>
            </a:r>
          </a:p>
          <a:p>
            <a:endParaRPr lang="en-US" sz="1200" dirty="0"/>
          </a:p>
        </p:txBody>
      </p:sp>
      <p:pic>
        <p:nvPicPr>
          <p:cNvPr id="55" name="Google Shape;160;p31">
            <a:extLst>
              <a:ext uri="{FF2B5EF4-FFF2-40B4-BE49-F238E27FC236}">
                <a16:creationId xmlns:a16="http://schemas.microsoft.com/office/drawing/2014/main" id="{3A022F71-0C38-0CCD-0ADD-DE6012A731A7}"/>
              </a:ext>
            </a:extLst>
          </p:cNvPr>
          <p:cNvPicPr/>
          <p:nvPr/>
        </p:nvPicPr>
        <p:blipFill>
          <a:blip r:embed="rId2"/>
          <a:srcRect l="38342" r="11026"/>
          <a:stretch/>
        </p:blipFill>
        <p:spPr>
          <a:xfrm>
            <a:off x="5230800" y="0"/>
            <a:ext cx="3912840" cy="515088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964978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157;p31"/>
          <p:cNvCxnSpPr/>
          <p:nvPr/>
        </p:nvCxnSpPr>
        <p:spPr>
          <a:xfrm>
            <a:off x="-5040" y="1311120"/>
            <a:ext cx="9182160" cy="360"/>
          </a:xfrm>
          <a:prstGeom prst="straightConnector1">
            <a:avLst/>
          </a:prstGeom>
          <a:ln w="9525">
            <a:solidFill>
              <a:srgbClr val="2B3D2D"/>
            </a:solidFill>
            <a:round/>
          </a:ln>
        </p:spPr>
      </p:cxn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24000" y="209520"/>
            <a:ext cx="46670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Introduction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790560" y="1428840"/>
            <a:ext cx="4209840" cy="300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The dashboard summarizes rapid growth in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electric mobility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and shifts toward sustainable transport, highlighting key patterns in adoption, pricing, and geography.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It enables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data-driven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decisions for stakeholders and policymakers via clear visual analytics and actionable metrics.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55" name="Google Shape;160;p31"/>
          <p:cNvPicPr/>
          <p:nvPr/>
        </p:nvPicPr>
        <p:blipFill>
          <a:blip r:embed="rId2"/>
          <a:srcRect l="38342" r="11026"/>
          <a:stretch/>
        </p:blipFill>
        <p:spPr>
          <a:xfrm>
            <a:off x="5230800" y="0"/>
            <a:ext cx="3912840" cy="5150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165;p32"/>
          <p:cNvCxnSpPr/>
          <p:nvPr/>
        </p:nvCxnSpPr>
        <p:spPr>
          <a:xfrm>
            <a:off x="-38160" y="1041954"/>
            <a:ext cx="9182160" cy="360"/>
          </a:xfrm>
          <a:prstGeom prst="straightConnector1">
            <a:avLst/>
          </a:prstGeom>
          <a:ln w="9525">
            <a:solidFill>
              <a:srgbClr val="EBE8DE"/>
            </a:solidFill>
            <a:round/>
          </a:ln>
        </p:spPr>
      </p:cxnSp>
      <p:pic>
        <p:nvPicPr>
          <p:cNvPr id="57" name="Google Shape;166;p32"/>
          <p:cNvPicPr/>
          <p:nvPr/>
        </p:nvPicPr>
        <p:blipFill>
          <a:blip r:embed="rId2"/>
          <a:srcRect t="933" b="933"/>
          <a:stretch/>
        </p:blipFill>
        <p:spPr>
          <a:xfrm>
            <a:off x="0" y="0"/>
            <a:ext cx="34930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712862" y="1360496"/>
            <a:ext cx="4790880" cy="28097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dirty="0">
                <a:solidFill>
                  <a:schemeClr val="tx2"/>
                </a:solidFill>
                <a:latin typeface="Arial"/>
              </a:rPr>
              <a:t>* 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Analyse the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growth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of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electric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vehicle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adoption.</a:t>
            </a:r>
            <a:b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</a:br>
            <a:b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</a:br>
            <a:r>
              <a:rPr lang="fr-FR" sz="1600" dirty="0">
                <a:solidFill>
                  <a:schemeClr val="tx2"/>
                </a:solidFill>
                <a:latin typeface="Arial"/>
              </a:rPr>
              <a:t>*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Identify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leading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EV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manufacturers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and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popular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     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models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. </a:t>
            </a:r>
            <a:b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</a:br>
            <a:b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</a:br>
            <a:r>
              <a:rPr lang="fr-FR" sz="1600" dirty="0">
                <a:solidFill>
                  <a:schemeClr val="tx2"/>
                </a:solidFill>
                <a:latin typeface="Arial"/>
              </a:rPr>
              <a:t>*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Study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the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relationship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between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vehicle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range and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price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.</a:t>
            </a:r>
            <a:b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</a:br>
            <a:b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</a:br>
            <a:r>
              <a:rPr lang="fr-FR" sz="1600" dirty="0">
                <a:solidFill>
                  <a:schemeClr val="tx2"/>
                </a:solidFill>
                <a:latin typeface="Arial"/>
              </a:rPr>
              <a:t>*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Understand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the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geographic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distribution of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EV’s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</a:t>
            </a:r>
            <a:b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</a:br>
            <a:b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</a:b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* Analyse Clean Alternative Fuel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Vehicle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(CAFV)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eligibility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and </a:t>
            </a:r>
            <a:r>
              <a:rPr lang="fr-FR" sz="1600" b="0" u="none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policy</a:t>
            </a:r>
            <a: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 impact.</a:t>
            </a:r>
            <a:b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</a:br>
            <a:b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</a:br>
            <a:endParaRPr lang="fr-FR" sz="1600" b="0" u="none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3638519" y="275786"/>
            <a:ext cx="4249109" cy="677108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dirty="0">
                <a:solidFill>
                  <a:schemeClr val="lt1"/>
                </a:solidFill>
                <a:latin typeface="Manrope"/>
              </a:rPr>
              <a:t>Project Objectives</a:t>
            </a:r>
            <a:endParaRPr lang="fr-FR" sz="3200" b="0" u="none" strike="noStrike" dirty="0">
              <a:solidFill>
                <a:schemeClr val="accent5"/>
              </a:solidFill>
              <a:effectLst/>
              <a:uFillTx/>
              <a:latin typeface="Arial"/>
            </a:endParaRPr>
          </a:p>
        </p:txBody>
      </p:sp>
      <p:cxnSp>
        <p:nvCxnSpPr>
          <p:cNvPr id="60" name="Google Shape;169;p32"/>
          <p:cNvCxnSpPr/>
          <p:nvPr/>
        </p:nvCxnSpPr>
        <p:spPr>
          <a:xfrm>
            <a:off x="-5040" y="1036440"/>
            <a:ext cx="9182160" cy="360"/>
          </a:xfrm>
          <a:prstGeom prst="straightConnector1">
            <a:avLst/>
          </a:prstGeom>
          <a:ln w="9525">
            <a:solidFill>
              <a:srgbClr val="EBE8DE"/>
            </a:solidFill>
            <a:round/>
          </a:ln>
        </p:spPr>
      </p:cxnSp>
      <p:cxnSp>
        <p:nvCxnSpPr>
          <p:cNvPr id="61" name="Google Shape;170;p32"/>
          <p:cNvCxnSpPr/>
          <p:nvPr/>
        </p:nvCxnSpPr>
        <p:spPr>
          <a:xfrm>
            <a:off x="-5040" y="1036440"/>
            <a:ext cx="3427200" cy="360"/>
          </a:xfrm>
          <a:prstGeom prst="straightConnector1">
            <a:avLst/>
          </a:prstGeom>
          <a:ln w="9525">
            <a:solidFill>
              <a:srgbClr val="EBE8DE"/>
            </a:solidFill>
            <a:round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028880" y="1047600"/>
            <a:ext cx="767664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Dataset Description 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1028880" y="2295360"/>
            <a:ext cx="5143320" cy="219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EV population dataset.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</a:rPr>
              <a:t>Variables include Model Year, Make, Model, EV Type, Electric Range, Base MSRP, and City.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</a:rPr>
              <a:t>Data cleaned and transformed before visualization.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64" name="Google Shape;177;p33"/>
          <p:cNvCxnSpPr/>
          <p:nvPr/>
        </p:nvCxnSpPr>
        <p:spPr>
          <a:xfrm>
            <a:off x="-5040" y="2017440"/>
            <a:ext cx="9182160" cy="360"/>
          </a:xfrm>
          <a:prstGeom prst="straightConnector1">
            <a:avLst/>
          </a:prstGeom>
          <a:ln w="9525">
            <a:solidFill>
              <a:srgbClr val="2B3D2D"/>
            </a:solidFill>
            <a:round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D04F7-6BDB-0BB9-1DD7-EEDF711DC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>
            <a:extLst>
              <a:ext uri="{FF2B5EF4-FFF2-40B4-BE49-F238E27FC236}">
                <a16:creationId xmlns:a16="http://schemas.microsoft.com/office/drawing/2014/main" id="{B0AEF7E0-9D8F-393E-13CE-C0F52EA1C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880" y="1047600"/>
            <a:ext cx="767664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dirty="0">
                <a:solidFill>
                  <a:schemeClr val="dk1"/>
                </a:solidFill>
                <a:latin typeface="Manrope"/>
              </a:rPr>
              <a:t>Tools Used</a:t>
            </a: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 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>
            <a:extLst>
              <a:ext uri="{FF2B5EF4-FFF2-40B4-BE49-F238E27FC236}">
                <a16:creationId xmlns:a16="http://schemas.microsoft.com/office/drawing/2014/main" id="{6FBE6CCD-9389-D96B-85CB-1FDA5E32BE5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28880" y="2295360"/>
            <a:ext cx="5143320" cy="219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</a:rPr>
              <a:t>Power BI for dashboard creation and visualization.</a:t>
            </a: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Open Sans"/>
              <a:ea typeface="Open Sans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</a:rPr>
              <a:t>Power Query for data cleaning.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</a:rPr>
              <a:t>Interactive visuals such as KPI’s, bar charts, scatter plots, maps, and donuts charts.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64" name="Google Shape;177;p33">
            <a:extLst>
              <a:ext uri="{FF2B5EF4-FFF2-40B4-BE49-F238E27FC236}">
                <a16:creationId xmlns:a16="http://schemas.microsoft.com/office/drawing/2014/main" id="{A9C2F966-064F-D46C-3F64-EC4DA54A74B8}"/>
              </a:ext>
            </a:extLst>
          </p:cNvPr>
          <p:cNvCxnSpPr/>
          <p:nvPr/>
        </p:nvCxnSpPr>
        <p:spPr>
          <a:xfrm>
            <a:off x="-5040" y="2017440"/>
            <a:ext cx="9182160" cy="360"/>
          </a:xfrm>
          <a:prstGeom prst="straightConnector1">
            <a:avLst/>
          </a:prstGeom>
          <a:ln w="9525">
            <a:solidFill>
              <a:srgbClr val="2B3D2D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2674613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/>
          <p:nvPr/>
        </p:nvSpPr>
        <p:spPr>
          <a:xfrm>
            <a:off x="476280" y="476279"/>
            <a:ext cx="8191080" cy="41328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dirty="0">
                <a:solidFill>
                  <a:schemeClr val="dk1"/>
                </a:solidFill>
                <a:latin typeface="Manrope"/>
              </a:rPr>
              <a:t>Dashboard Visualizations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600" b="0" u="none" strike="noStrike" dirty="0">
              <a:solidFill>
                <a:schemeClr val="dk1"/>
              </a:solidFill>
              <a:effectLst/>
              <a:uFillTx/>
              <a:latin typeface="Manrope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600" dirty="0">
              <a:solidFill>
                <a:schemeClr val="dk1"/>
              </a:solidFill>
              <a:latin typeface="Manrope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600" b="0" u="none" strike="noStrike" dirty="0">
              <a:solidFill>
                <a:schemeClr val="dk1"/>
              </a:solidFill>
              <a:effectLst/>
              <a:uFillTx/>
              <a:latin typeface="Manrope"/>
            </a:endParaRPr>
          </a:p>
          <a:p>
            <a:pPr marL="342900" indent="-342900" defTabSz="9144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EV adoption trend </a:t>
            </a:r>
          </a:p>
          <a:p>
            <a:pPr marL="342900" indent="-342900" defTabSz="9144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342900" indent="-342900" defTabSz="9144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Leading EV Manufacturers </a:t>
            </a:r>
          </a:p>
          <a:p>
            <a:pPr marL="342900" indent="-342900" defTabSz="9144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endParaRPr lang="en-US" sz="2000" dirty="0">
              <a:solidFill>
                <a:srgbClr val="000000"/>
              </a:solidFill>
              <a:latin typeface="OpenSymbol"/>
            </a:endParaRPr>
          </a:p>
          <a:p>
            <a:pPr marL="342900" indent="-342900" defTabSz="9144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Most Popular EV models </a:t>
            </a:r>
          </a:p>
          <a:p>
            <a:pPr marL="342900" indent="-342900" defTabSz="9144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endParaRPr lang="en-US" sz="2000" dirty="0">
              <a:solidFill>
                <a:srgbClr val="000000"/>
              </a:solidFill>
              <a:latin typeface="OpenSymbol"/>
            </a:endParaRPr>
          </a:p>
          <a:p>
            <a:pPr marL="342900" indent="-342900" defTabSz="9144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Range vs Price Analysis </a:t>
            </a:r>
          </a:p>
          <a:p>
            <a:pPr marL="342900" indent="-342900" defTabSz="9144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endParaRPr lang="en-US" sz="2000" dirty="0">
              <a:solidFill>
                <a:srgbClr val="000000"/>
              </a:solidFill>
              <a:latin typeface="OpenSymbol"/>
            </a:endParaRPr>
          </a:p>
          <a:p>
            <a:pPr marL="342900" indent="-342900" defTabSz="9144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EV Distribution Map</a:t>
            </a:r>
          </a:p>
          <a:p>
            <a:pPr marL="342900" indent="-342900" defTabSz="9144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endParaRPr lang="en-US" sz="2000" dirty="0">
              <a:solidFill>
                <a:srgbClr val="000000"/>
              </a:solidFill>
              <a:latin typeface="OpenSymbol"/>
            </a:endParaRPr>
          </a:p>
          <a:p>
            <a:pPr marL="342900" indent="-342900" defTabSz="9144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CAFV Eligibility Distribution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Regional Distribution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EV market concentration varies: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Asia-Pacific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 and Europe lead adoption, North America expanding steadily.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Urban centers show higher penetration; emerging markets grow via targeted incentives and fleet electrification.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Market share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 differs by policy, infrastructure, and consumer incentives.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69" name="image69b2876399c87" descr="image69b2876399c8e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/>
          <p:cNvSpPr/>
          <p:nvPr/>
        </p:nvSpPr>
        <p:spPr>
          <a:xfrm>
            <a:off x="5048280" y="0"/>
            <a:ext cx="3196188" cy="7032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Data Insights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72" name="image69b28763b3413" descr="image69b28763b342d"/>
          <p:cNvPicPr/>
          <p:nvPr/>
        </p:nvPicPr>
        <p:blipFill>
          <a:blip r:embed="rId2"/>
          <a:stretch/>
        </p:blipFill>
        <p:spPr>
          <a:xfrm>
            <a:off x="-1" y="2474641"/>
            <a:ext cx="3917795" cy="2668859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5D23DF-82B9-7CB2-FADF-36CA564CE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923" y="788743"/>
            <a:ext cx="4642804" cy="1910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534441-44E5-52EB-4812-FD8B8CE1C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719" y="30096"/>
            <a:ext cx="4019229" cy="21024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640B68-B3FD-092A-9CBD-1C1A122797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291" y="2874093"/>
            <a:ext cx="3799868" cy="22059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0" y="550128"/>
            <a:ext cx="5000400" cy="336766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Rapid growth in EV adoption over recent years.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000" dirty="0">
                <a:solidFill>
                  <a:srgbClr val="000000"/>
                </a:solidFill>
                <a:latin typeface="OpenSymbol"/>
              </a:rPr>
              <a:t>Market dominated by a few major manufacturers.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Higher battery </a:t>
            </a:r>
            <a:r>
              <a:rPr lang="en-US" sz="2000" dirty="0">
                <a:solidFill>
                  <a:srgbClr val="000000"/>
                </a:solidFill>
                <a:latin typeface="OpenSymbol"/>
              </a:rPr>
              <a:t>range often corresponds with a higher price.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Fully electric vehicles are gaining popularity.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000" dirty="0">
                <a:solidFill>
                  <a:srgbClr val="000000"/>
                </a:solidFill>
                <a:latin typeface="OpenSymbol"/>
              </a:rPr>
              <a:t>Government incentives influence EV adoption.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76" name="Google Shape;160;p31"/>
          <p:cNvPicPr/>
          <p:nvPr/>
        </p:nvPicPr>
        <p:blipFill>
          <a:blip r:embed="rId2"/>
          <a:srcRect l="38342" r="11026"/>
          <a:stretch/>
        </p:blipFill>
        <p:spPr>
          <a:xfrm>
            <a:off x="5230800" y="0"/>
            <a:ext cx="3912840" cy="5150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Future Scope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latin typeface="Open Sans"/>
              </a:rPr>
              <a:t>Include real-time EV sales data.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Open Sans"/>
              </a:rPr>
              <a:t>Apply Machine </a:t>
            </a:r>
            <a:r>
              <a:rPr lang="en-US" sz="2000" dirty="0">
                <a:solidFill>
                  <a:schemeClr val="dk1"/>
                </a:solidFill>
                <a:latin typeface="Open Sans"/>
              </a:rPr>
              <a:t>Learning to predict EV adoption trends.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Open Sans"/>
              </a:rPr>
              <a:t>Analyze charging infrastructure availability.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latin typeface="Open Sans"/>
              </a:rPr>
              <a:t>Include consumer demographic insights. 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157;p31"/>
          <p:cNvCxnSpPr/>
          <p:nvPr/>
        </p:nvCxnSpPr>
        <p:spPr>
          <a:xfrm>
            <a:off x="-5040" y="1311120"/>
            <a:ext cx="9182160" cy="360"/>
          </a:xfrm>
          <a:prstGeom prst="straightConnector1">
            <a:avLst/>
          </a:prstGeom>
          <a:ln w="9525">
            <a:solidFill>
              <a:srgbClr val="2B3D2D"/>
            </a:solidFill>
            <a:round/>
          </a:ln>
        </p:spPr>
      </p:cxn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24000" y="209520"/>
            <a:ext cx="46670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Conclusions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790560" y="1428840"/>
            <a:ext cx="4209840" cy="300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The EV market is rapidly expanding, led by policy-driven regions and falling battery costs.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Data-driven dashboards enable stakeholders to monitor adoption, optimize pricing strategies, and prioritize infrastructure investments for sustained growth.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Actionable insights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guide next steps.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dirty="0">
              <a:solidFill>
                <a:schemeClr val="dk1"/>
              </a:solidFill>
              <a:latin typeface="Open Sans"/>
              <a:ea typeface="Open Sans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85" name="Google Shape;160;p31"/>
          <p:cNvPicPr/>
          <p:nvPr/>
        </p:nvPicPr>
        <p:blipFill>
          <a:blip r:embed="rId2"/>
          <a:srcRect l="38342" r="11026"/>
          <a:stretch/>
        </p:blipFill>
        <p:spPr>
          <a:xfrm>
            <a:off x="5230800" y="0"/>
            <a:ext cx="3912840" cy="5150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49E88-F0DA-B8AF-7747-26881F5E9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165;p32">
            <a:extLst>
              <a:ext uri="{FF2B5EF4-FFF2-40B4-BE49-F238E27FC236}">
                <a16:creationId xmlns:a16="http://schemas.microsoft.com/office/drawing/2014/main" id="{C534EA0E-E039-07D2-10FE-2E27616C6D97}"/>
              </a:ext>
            </a:extLst>
          </p:cNvPr>
          <p:cNvCxnSpPr/>
          <p:nvPr/>
        </p:nvCxnSpPr>
        <p:spPr>
          <a:xfrm>
            <a:off x="-38160" y="1041954"/>
            <a:ext cx="9182160" cy="360"/>
          </a:xfrm>
          <a:prstGeom prst="straightConnector1">
            <a:avLst/>
          </a:prstGeom>
          <a:ln w="9525">
            <a:solidFill>
              <a:srgbClr val="EBE8DE"/>
            </a:solidFill>
            <a:round/>
          </a:ln>
        </p:spPr>
      </p:cxnSp>
      <p:pic>
        <p:nvPicPr>
          <p:cNvPr id="57" name="Google Shape;166;p32">
            <a:extLst>
              <a:ext uri="{FF2B5EF4-FFF2-40B4-BE49-F238E27FC236}">
                <a16:creationId xmlns:a16="http://schemas.microsoft.com/office/drawing/2014/main" id="{1194E0E7-D7FE-2135-DED9-255DF60AFB42}"/>
              </a:ext>
            </a:extLst>
          </p:cNvPr>
          <p:cNvPicPr/>
          <p:nvPr/>
        </p:nvPicPr>
        <p:blipFill>
          <a:blip r:embed="rId2"/>
          <a:srcRect t="933" b="933"/>
          <a:stretch/>
        </p:blipFill>
        <p:spPr>
          <a:xfrm>
            <a:off x="0" y="0"/>
            <a:ext cx="34930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>
            <a:extLst>
              <a:ext uri="{FF2B5EF4-FFF2-40B4-BE49-F238E27FC236}">
                <a16:creationId xmlns:a16="http://schemas.microsoft.com/office/drawing/2014/main" id="{ADE7C16D-EB00-734A-112D-9D3B3DCCB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862" y="1628078"/>
            <a:ext cx="3493080" cy="115180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dirty="0">
                <a:solidFill>
                  <a:schemeClr val="tx2"/>
                </a:solidFill>
                <a:latin typeface="Arial"/>
              </a:rPr>
              <a:t>GLENITA DSOUZA</a:t>
            </a:r>
            <a:br>
              <a:rPr lang="fr-FR" sz="1600" dirty="0">
                <a:solidFill>
                  <a:schemeClr val="tx2"/>
                </a:solidFill>
                <a:latin typeface="Arial"/>
              </a:rPr>
            </a:br>
            <a:r>
              <a:rPr lang="fr-FR" sz="1600" dirty="0">
                <a:solidFill>
                  <a:schemeClr val="tx2"/>
                </a:solidFill>
                <a:latin typeface="Arial"/>
              </a:rPr>
              <a:t>dsouzaglenita2002@gmail.com</a:t>
            </a:r>
            <a:br>
              <a:rPr lang="fr-FR" sz="1600" dirty="0">
                <a:solidFill>
                  <a:schemeClr val="tx2"/>
                </a:solidFill>
                <a:latin typeface="Arial"/>
              </a:rPr>
            </a:br>
            <a:br>
              <a:rPr lang="fr-FR" sz="1600" dirty="0">
                <a:solidFill>
                  <a:schemeClr val="tx2"/>
                </a:solidFill>
                <a:latin typeface="Arial"/>
              </a:rPr>
            </a:br>
            <a:b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</a:br>
            <a:br>
              <a:rPr lang="fr-FR" sz="1600" b="0" u="none" strike="noStrike" dirty="0">
                <a:solidFill>
                  <a:schemeClr val="tx2"/>
                </a:solidFill>
                <a:effectLst/>
                <a:uFillTx/>
                <a:latin typeface="Arial"/>
              </a:rPr>
            </a:br>
            <a:endParaRPr lang="fr-FR" sz="1600" b="0" u="none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>
            <a:extLst>
              <a:ext uri="{FF2B5EF4-FFF2-40B4-BE49-F238E27FC236}">
                <a16:creationId xmlns:a16="http://schemas.microsoft.com/office/drawing/2014/main" id="{21151AEA-8504-973D-3368-BD985768F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8519" y="275786"/>
            <a:ext cx="4249109" cy="677108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lt1"/>
                </a:solidFill>
                <a:effectLst/>
                <a:uFillTx/>
                <a:latin typeface="Manrope"/>
              </a:rPr>
              <a:t>THANK YOU!</a:t>
            </a:r>
            <a:endParaRPr lang="fr-FR" sz="3200" b="0" u="none" strike="noStrike" dirty="0">
              <a:solidFill>
                <a:schemeClr val="accent5"/>
              </a:solidFill>
              <a:effectLst/>
              <a:uFillTx/>
              <a:latin typeface="Arial"/>
            </a:endParaRPr>
          </a:p>
        </p:txBody>
      </p:sp>
      <p:cxnSp>
        <p:nvCxnSpPr>
          <p:cNvPr id="60" name="Google Shape;169;p32">
            <a:extLst>
              <a:ext uri="{FF2B5EF4-FFF2-40B4-BE49-F238E27FC236}">
                <a16:creationId xmlns:a16="http://schemas.microsoft.com/office/drawing/2014/main" id="{CB3A576D-FCDA-1298-9FC2-1FF7A4F984B8}"/>
              </a:ext>
            </a:extLst>
          </p:cNvPr>
          <p:cNvCxnSpPr/>
          <p:nvPr/>
        </p:nvCxnSpPr>
        <p:spPr>
          <a:xfrm>
            <a:off x="-5040" y="1036440"/>
            <a:ext cx="9182160" cy="360"/>
          </a:xfrm>
          <a:prstGeom prst="straightConnector1">
            <a:avLst/>
          </a:prstGeom>
          <a:ln w="9525">
            <a:solidFill>
              <a:srgbClr val="EBE8DE"/>
            </a:solidFill>
            <a:round/>
          </a:ln>
        </p:spPr>
      </p:cxnSp>
      <p:cxnSp>
        <p:nvCxnSpPr>
          <p:cNvPr id="61" name="Google Shape;170;p32">
            <a:extLst>
              <a:ext uri="{FF2B5EF4-FFF2-40B4-BE49-F238E27FC236}">
                <a16:creationId xmlns:a16="http://schemas.microsoft.com/office/drawing/2014/main" id="{7ABE0387-7D1A-6CDE-D905-E7DC5F878DC6}"/>
              </a:ext>
            </a:extLst>
          </p:cNvPr>
          <p:cNvCxnSpPr/>
          <p:nvPr/>
        </p:nvCxnSpPr>
        <p:spPr>
          <a:xfrm>
            <a:off x="-5040" y="1036440"/>
            <a:ext cx="3427200" cy="360"/>
          </a:xfrm>
          <a:prstGeom prst="straightConnector1">
            <a:avLst/>
          </a:prstGeom>
          <a:ln w="9525">
            <a:solidFill>
              <a:srgbClr val="EBE8DE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2364658477"/>
      </p:ext>
    </p:extLst>
  </p:cSld>
  <p:clrMapOvr>
    <a:masterClrMapping/>
  </p:clrMapOvr>
</p:sld>
</file>

<file path=ppt/theme/theme1.xml><?xml version="1.0" encoding="utf-8"?>
<a:theme xmlns:a="http://schemas.openxmlformats.org/drawingml/2006/main" name="Corporate Sustainability by Slidesgo">
  <a:themeElements>
    <a:clrScheme name="Simple Light">
      <a:dk1>
        <a:srgbClr val="2B3D2D"/>
      </a:dk1>
      <a:lt1>
        <a:srgbClr val="EBE8DE"/>
      </a:lt1>
      <a:dk2>
        <a:srgbClr val="365F3C"/>
      </a:dk2>
      <a:lt2>
        <a:srgbClr val="EEEEE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B3D2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5491</TotalTime>
  <Words>458</Words>
  <Application>Microsoft Office PowerPoint</Application>
  <PresentationFormat>On-screen Show (16:9)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Carattere</vt:lpstr>
      <vt:lpstr>Manrope</vt:lpstr>
      <vt:lpstr>Open Sans</vt:lpstr>
      <vt:lpstr>OpenSymbol</vt:lpstr>
      <vt:lpstr>Symbol</vt:lpstr>
      <vt:lpstr>Wingdings</vt:lpstr>
      <vt:lpstr>Corporate Sustainability by Slidesgo</vt:lpstr>
      <vt:lpstr>Slidesgo Final Pages</vt:lpstr>
      <vt:lpstr>Electric Vehicle Market Analysis Dashboard</vt:lpstr>
      <vt:lpstr>Introduction to Electric Vehicles</vt:lpstr>
      <vt:lpstr>Introduction</vt:lpstr>
      <vt:lpstr>* Analyse the growth of electric vehicle adoption.  * Identify leading EV manufacturers and popular       models.   * Study the relationship between vehicle range and price.  * Understand the geographic distribution of EV’s   * Analyse Clean Alternative Fuel Vehicle (CAFV) eligibility and policy impact.  </vt:lpstr>
      <vt:lpstr>Dataset Description </vt:lpstr>
      <vt:lpstr>Tools Used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Conclusions</vt:lpstr>
      <vt:lpstr>GLENITA DSOUZA dsouzaglenita2002@gmail.com   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Glenita Dsouza</cp:lastModifiedBy>
  <cp:revision>2</cp:revision>
  <dcterms:modified xsi:type="dcterms:W3CDTF">2026-03-16T05:01:47Z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2026-03-12T09:28:57Z</dcterms:created>
  <dc:creator>Unknown Creator</dc:creator>
  <dc:description/>
  <dc:language>en-US</dc:language>
  <cp:lastModifiedBy>Unknown Creator</cp:lastModifiedBy>
  <dcterms:modified xsi:type="dcterms:W3CDTF">2026-03-12T09:28:57Z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